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7"/>
  </p:normalViewPr>
  <p:slideViewPr>
    <p:cSldViewPr snapToGrid="0" snapToObjects="1">
      <p:cViewPr varScale="1">
        <p:scale>
          <a:sx n="84" d="100"/>
          <a:sy n="84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15139-F01E-D74A-972C-A9553AA4C478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597F5-CA9C-AC4A-BF8D-06BBDE9A5FF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0189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597F5-CA9C-AC4A-BF8D-06BBDE9A5FFD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45362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37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6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08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64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0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2126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9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7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2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19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BDD6A-01A8-5A4A-9C5E-601F85E6A1EC}" type="datetimeFigureOut">
              <a:rPr lang="en-NG" smtClean="0"/>
              <a:t>21/01/2024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8AC875A-F9E0-D146-9D94-C17A64CD2BA7}" type="slidenum">
              <a:rPr lang="en-NG" smtClean="0"/>
              <a:t>‹#›</a:t>
            </a:fld>
            <a:endParaRPr lang="en-NG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90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7170-11F8-3D40-8799-50192B2B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37160"/>
            <a:ext cx="11018520" cy="3169920"/>
          </a:xfrm>
        </p:spPr>
        <p:txBody>
          <a:bodyPr>
            <a:normAutofit fontScale="90000"/>
          </a:bodyPr>
          <a:lstStyle/>
          <a:p>
            <a:r>
              <a:rPr lang="en-GB" dirty="0"/>
              <a:t>Investment Proposal for Pharmaceuticals Import and Distribution</a:t>
            </a:r>
            <a:br>
              <a:rPr lang="en-GB" dirty="0"/>
            </a:b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87073-9C9B-4745-8700-DE2B52EB4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1" y="3550920"/>
            <a:ext cx="12009120" cy="249936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From:</a:t>
            </a:r>
          </a:p>
          <a:p>
            <a:r>
              <a:rPr lang="en-GB" dirty="0"/>
              <a:t>Bridgecare Pharmaceuticals Limited</a:t>
            </a:r>
            <a:br>
              <a:rPr lang="en-GB" dirty="0"/>
            </a:br>
            <a:r>
              <a:rPr lang="en-GB" dirty="0"/>
              <a:t>42 Old Otta Road Orile</a:t>
            </a:r>
            <a:br>
              <a:rPr lang="en-GB" dirty="0"/>
            </a:br>
            <a:r>
              <a:rPr lang="en-GB" dirty="0"/>
              <a:t>Agege, Lagos</a:t>
            </a:r>
            <a:br>
              <a:rPr lang="en-GB" dirty="0"/>
            </a:br>
            <a:r>
              <a:rPr lang="en-GB" dirty="0"/>
              <a:t>+2348122218470</a:t>
            </a:r>
            <a:br>
              <a:rPr lang="en-GB" dirty="0"/>
            </a:br>
            <a:r>
              <a:rPr lang="en-GB" dirty="0" err="1"/>
              <a:t>smith@bridgecarepharma.com</a:t>
            </a:r>
            <a:endParaRPr lang="en-GB" dirty="0"/>
          </a:p>
          <a:p>
            <a:r>
              <a:rPr lang="en-GB" dirty="0"/>
              <a:t>To:</a:t>
            </a:r>
            <a:br>
              <a:rPr lang="en-GB" dirty="0"/>
            </a:br>
            <a:r>
              <a:rPr lang="en-GB" dirty="0" err="1"/>
              <a:t>Chukwudi</a:t>
            </a:r>
            <a:r>
              <a:rPr lang="en-GB" dirty="0"/>
              <a:t> </a:t>
            </a:r>
            <a:r>
              <a:rPr lang="en-GB" dirty="0" err="1"/>
              <a:t>Ezeji</a:t>
            </a:r>
            <a:br>
              <a:rPr lang="en-GB" dirty="0"/>
            </a:br>
            <a:r>
              <a:rPr lang="en-GB" dirty="0"/>
              <a:t>afortunado6@yahoo.com</a:t>
            </a:r>
            <a:br>
              <a:rPr lang="en-GB" dirty="0"/>
            </a:br>
            <a:r>
              <a:rPr lang="en-GB" dirty="0"/>
              <a:t>USA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08296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1FB-0F6D-D244-A202-E100854F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13361"/>
            <a:ext cx="9603275" cy="944879"/>
          </a:xfrm>
        </p:spPr>
        <p:txBody>
          <a:bodyPr>
            <a:normAutofit fontScale="90000"/>
          </a:bodyPr>
          <a:lstStyle/>
          <a:p>
            <a:r>
              <a:rPr lang="en-GB" b="1" dirty="0">
                <a:effectLst/>
                <a:latin typeface="Helvetica Neue" panose="02000503000000020004" pitchFamily="2" charset="0"/>
              </a:rPr>
              <a:t>Project Overview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E7EDE-3D87-D44B-B03B-8F612AAB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158240"/>
            <a:ext cx="11658600" cy="4846320"/>
          </a:xfrm>
        </p:spPr>
        <p:txBody>
          <a:bodyPr>
            <a:normAutofit lnSpcReduction="10000"/>
          </a:bodyPr>
          <a:lstStyle/>
          <a:p>
            <a:r>
              <a:rPr lang="en-GB" dirty="0">
                <a:effectLst/>
                <a:latin typeface="Helvetica Neue" panose="02000503000000020004" pitchFamily="2" charset="0"/>
              </a:rPr>
              <a:t>We are thrilled to present an exciting investment opportunity with Bridgecare Pharmaceuticals Limited. Our venture focuses on expanding our product line through the import and distribution of high-quality pharmaceuticals, specifically: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  <a:latin typeface="Helvetica Neue" panose="02000503000000020004" pitchFamily="2" charset="0"/>
              </a:rPr>
              <a:t>Unijules</a:t>
            </a:r>
            <a:r>
              <a:rPr lang="en-GB" b="1" dirty="0">
                <a:effectLst/>
                <a:latin typeface="Helvetica Neue" panose="02000503000000020004" pitchFamily="2" charset="0"/>
              </a:rPr>
              <a:t> VALIDO Plus Capsules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A combination of proven herbs used in the treatment of sexual dysfunction, based on traditional VAJIKARAN THERAPY.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  <a:latin typeface="Helvetica Neue" panose="02000503000000020004" pitchFamily="2" charset="0"/>
              </a:rPr>
              <a:t>Rheumax</a:t>
            </a:r>
            <a:r>
              <a:rPr lang="en-GB" b="1" dirty="0">
                <a:effectLst/>
                <a:latin typeface="Helvetica Neue" panose="02000503000000020004" pitchFamily="2" charset="0"/>
              </a:rPr>
              <a:t> Plus Capsules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Designed for relief from all types of joint pains and to maintain joint integrity.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  <a:latin typeface="Helvetica Neue" panose="02000503000000020004" pitchFamily="2" charset="0"/>
              </a:rPr>
              <a:t>Unex</a:t>
            </a:r>
            <a:r>
              <a:rPr lang="en-GB" b="1" dirty="0">
                <a:effectLst/>
                <a:latin typeface="Helvetica Neue" panose="02000503000000020004" pitchFamily="2" charset="0"/>
              </a:rPr>
              <a:t> Plus Capsules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Formulated for improving kidney functions.</a:t>
            </a:r>
          </a:p>
          <a:p>
            <a:r>
              <a:rPr lang="en-GB" dirty="0">
                <a:effectLst/>
                <a:latin typeface="Helvetica Neue" panose="02000503000000020004" pitchFamily="2" charset="0"/>
              </a:rPr>
              <a:t>These products have demonstrated efficacy and meet the highest quality standards, making them valuable additions to our pharmaceutical portfolio.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11626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C64B-B6FD-2D4C-9195-670CFC4E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  <a:latin typeface="Helvetica Neue" panose="02000503000000020004" pitchFamily="2" charset="0"/>
              </a:rPr>
              <a:t>Investment Requirements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2629-2E1F-1648-AADB-ECCA8FD72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310640"/>
            <a:ext cx="10698480" cy="4866323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effectLst/>
                <a:latin typeface="Helvetica Neue" panose="02000503000000020004" pitchFamily="2" charset="0"/>
              </a:rPr>
              <a:t>We are seeking an investment of </a:t>
            </a:r>
            <a:r>
              <a:rPr lang="en-GB" b="1" dirty="0">
                <a:effectLst/>
                <a:latin typeface="Helvetica Neue" panose="02000503000000020004" pitchFamily="2" charset="0"/>
              </a:rPr>
              <a:t>N 65,465,770.49</a:t>
            </a:r>
            <a:r>
              <a:rPr lang="en-GB" dirty="0">
                <a:effectLst/>
                <a:latin typeface="Helvetica Neue" panose="02000503000000020004" pitchFamily="2" charset="0"/>
              </a:rPr>
              <a:t> to cover the following costs associated with this venture: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Cost of Goods: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Total cost for purchasing the pharmaceutical products: N 47,760,000.00.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Regulatory Compliance: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NAFDAC Reg fee for 3 products: $3,000 (at the rate of 1,100= N 3,300,000).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GMP Fees: $10,000 (at the rate of 1,100= N 11,000,000).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Other Costs: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Customs and Duties: N 2,883,106.23.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Clearing Charges: N 223,359.14.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Total Investment Needed: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N 65,465,770.49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86472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DD69-12E5-9949-8398-83180E7F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  <a:latin typeface="Helvetica Neue" panose="02000503000000020004" pitchFamily="2" charset="0"/>
              </a:rPr>
              <a:t>Profit and Sharing Formula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5757F-6D2C-B541-B641-E963DF3EE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371600"/>
            <a:ext cx="11109960" cy="483108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  <a:latin typeface="Helvetica Neue" panose="02000503000000020004" pitchFamily="2" charset="0"/>
              </a:rPr>
              <a:t>In consideration of your investment, we propose the following profit and sharing formula: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Cost Recovery: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Your investment will be recovered from the initial sales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Profit Sharing: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We propose a [To be agreed by both parties] % profit-sharing arrangement until the initial investment is fully recovered.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Equity Stake: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In return for your investment, [Investor's Company Name] will be entitled to an [To be agreed by both parties]% equity stake in Bridgecare Pharmaceuticals Limited.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2722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41EE-B686-C543-8D4E-BCE492F7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11480"/>
            <a:ext cx="9231661" cy="88392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effectLst/>
                <a:latin typeface="Helvetica Neue" panose="02000503000000020004" pitchFamily="2" charset="0"/>
              </a:rPr>
              <a:t>Investment Terms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C017F-C2E6-6A47-813E-FB4C7F382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295400"/>
            <a:ext cx="11917680" cy="443484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Menlo" panose="020B0609030804020204" pitchFamily="49" charset="0"/>
              </a:rPr>
              <a:t>Payment Terms:</a:t>
            </a:r>
            <a:endParaRPr lang="en-GB" dirty="0">
              <a:effectLst/>
              <a:latin typeface="Menlo" panose="020B060903080402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The investment amount will be paid in [Specify Number of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Installments</a:t>
            </a:r>
            <a:r>
              <a:rPr lang="en-GB" dirty="0">
                <a:effectLst/>
                <a:latin typeface="Helvetica Neue" panose="02000503000000020004" pitchFamily="2" charset="0"/>
              </a:rPr>
              <a:t>]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installments</a:t>
            </a:r>
            <a:r>
              <a:rPr lang="en-GB" dirty="0">
                <a:effectLst/>
                <a:latin typeface="Helvetica Neue" panose="02000503000000020004" pitchFamily="2" charset="0"/>
              </a:rPr>
              <a:t>, with the first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installment</a:t>
            </a:r>
            <a:r>
              <a:rPr lang="en-GB" dirty="0">
                <a:effectLst/>
                <a:latin typeface="Helvetica Neue" panose="02000503000000020004" pitchFamily="2" charset="0"/>
              </a:rPr>
              <a:t> due upon signing the investment agreement.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Reporting and Updates: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Regular financial and operational updates will be provided to [Investor's Company Name] to ensure transparency and accountability.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  <a:latin typeface="Helvetica Neue" panose="02000503000000020004" pitchFamily="2" charset="0"/>
              </a:rPr>
              <a:t>Exit Strategy: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An exit strategy will be outlined in the agreement, specifying conditions under which [Investor's Company Name] can exit the investment with a predefined return.</a:t>
            </a:r>
          </a:p>
          <a:p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2093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3EE2-11EC-6B45-9C67-223497A1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50521"/>
            <a:ext cx="9603275" cy="79248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effectLst/>
                <a:latin typeface="Helvetica Neue" panose="02000503000000020004" pitchFamily="2" charset="0"/>
              </a:rPr>
              <a:t>Conclusion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644B-DD86-9B4E-B0EE-F723FEFCA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868681"/>
            <a:ext cx="1185672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This investment opportunity offers substantial potential for growth and profit. Bridgecare Pharmaceuticals Limited is committed to ensuring the success of this venture and looks forward to the possibility of a mutually beneficial partnership.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We welcome the opportunity to discuss this proposal further and address any questions or concerns you may have. Please feel free to contact us at +2348122218470 or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smith@bridgecarepharma.com</a:t>
            </a:r>
            <a:r>
              <a:rPr lang="en-GB" dirty="0">
                <a:effectLst/>
                <a:latin typeface="Helvetica Neue" panose="02000503000000020004" pitchFamily="2" charset="0"/>
              </a:rPr>
              <a:t> to arrange a meeting.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Thank you for considering our proposal. We are eager to explore the potential of working together and achieving shared success.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Sincerely,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Tochukwu Smith Ibe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r>
              <a:rPr lang="en-GB" dirty="0">
                <a:effectLst/>
                <a:latin typeface="Helvetica Neue" panose="02000503000000020004" pitchFamily="2" charset="0"/>
              </a:rPr>
              <a:t>CEO/Director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r>
              <a:rPr lang="en-GB" dirty="0">
                <a:effectLst/>
                <a:latin typeface="Helvetica Neue" panose="02000503000000020004" pitchFamily="2" charset="0"/>
              </a:rPr>
              <a:t>Bridgecare Pharmaceuticals Limited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75723415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{699930CB-0C0C-B843-89E1-C16DC4163C8B}tf10001119_mac</Template>
  <TotalTime>29</TotalTime>
  <Words>540</Words>
  <Application>Microsoft Macintosh PowerPoint</Application>
  <PresentationFormat>Widescreen</PresentationFormat>
  <Paragraphs>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Helvetica Neue</vt:lpstr>
      <vt:lpstr>Menlo</vt:lpstr>
      <vt:lpstr>Gallery</vt:lpstr>
      <vt:lpstr>Investment Proposal for Pharmaceuticals Import and Distribution </vt:lpstr>
      <vt:lpstr>Project Overview </vt:lpstr>
      <vt:lpstr>Investment Requirements </vt:lpstr>
      <vt:lpstr>Profit and Sharing Formula </vt:lpstr>
      <vt:lpstr>Investment Terms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Proposal for Pharmaceuticals Import and Distribution </dc:title>
  <dc:creator>Smith Ibe</dc:creator>
  <cp:lastModifiedBy>Smith Ibe</cp:lastModifiedBy>
  <cp:revision>1</cp:revision>
  <dcterms:created xsi:type="dcterms:W3CDTF">2024-01-21T22:04:51Z</dcterms:created>
  <dcterms:modified xsi:type="dcterms:W3CDTF">2024-01-21T22:33:59Z</dcterms:modified>
</cp:coreProperties>
</file>